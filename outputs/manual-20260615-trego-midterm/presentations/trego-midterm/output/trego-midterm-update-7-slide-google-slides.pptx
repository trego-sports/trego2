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24c792051245bc" /><Relationship Type="http://schemas.openxmlformats.org/officeDocument/2006/relationships/extended-properties" Target="/docProps/app.xml" Id="R42fe8b1870af4f2f" /><Relationship Type="http://schemas.openxmlformats.org/officeDocument/2006/relationships/officeDocument" Target="/ppt/presentation.xml" Id="R74d4977dbbfd42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ef6337e4314e44"/>
  </p:sldMasterIdLst>
  <p:notesMasterIdLst>
    <p:notesMasterId xmlns:r="http://schemas.openxmlformats.org/officeDocument/2006/relationships" r:id="R95f2b81db8a94fe5"/>
  </p:notesMasterIdLst>
  <p:sldIdLst>
    <p:sldId xmlns:r="http://schemas.openxmlformats.org/officeDocument/2006/relationships" id="256" r:id="R1c299bb288a242da"/>
    <p:sldId xmlns:r="http://schemas.openxmlformats.org/officeDocument/2006/relationships" id="257" r:id="Rca482a444f4e49d6"/>
    <p:sldId xmlns:r="http://schemas.openxmlformats.org/officeDocument/2006/relationships" id="258" r:id="Rf730adb27b8b4f8e"/>
    <p:sldId xmlns:r="http://schemas.openxmlformats.org/officeDocument/2006/relationships" id="259" r:id="Rb2ba7e080d374e5a"/>
    <p:sldId xmlns:r="http://schemas.openxmlformats.org/officeDocument/2006/relationships" id="260" r:id="Rb405de51064c4a1c"/>
    <p:sldId xmlns:r="http://schemas.openxmlformats.org/officeDocument/2006/relationships" id="261" r:id="R4ffafbf9ac8a41ae"/>
    <p:sldId xmlns:r="http://schemas.openxmlformats.org/officeDocument/2006/relationships" id="262" r:id="R203827aba0a84fe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330eb27d13488e" /><Relationship Type="http://schemas.openxmlformats.org/officeDocument/2006/relationships/slideMaster" Target="/ppt/slideMasters/slideMaster1.xml" Id="Rb1ef6337e4314e44" /><Relationship Type="http://schemas.openxmlformats.org/officeDocument/2006/relationships/notesMaster" Target="/ppt/notesMasters/notesMaster1.xml" Id="R95f2b81db8a94fe5" /><Relationship Type="http://schemas.openxmlformats.org/officeDocument/2006/relationships/presProps" Target="/ppt/presProps.xml" Id="R7fa92581d6f24872" /><Relationship Type="http://schemas.openxmlformats.org/officeDocument/2006/relationships/viewProps" Target="/ppt/viewProps.xml" Id="R41f154f11d364dad" /><Relationship Type="http://schemas.openxmlformats.org/officeDocument/2006/relationships/tableStyles" Target="/ppt/tableStyles.xml" Id="Rd226e639e33d4a9e" /><Relationship Type="http://schemas.openxmlformats.org/officeDocument/2006/relationships/slide" Target="/ppt/slides/slide1.xml" Id="R1c299bb288a242da" /><Relationship Type="http://schemas.openxmlformats.org/officeDocument/2006/relationships/slide" Target="/ppt/slides/slide2.xml" Id="Rca482a444f4e49d6" /><Relationship Type="http://schemas.openxmlformats.org/officeDocument/2006/relationships/slide" Target="/ppt/slides/slide3.xml" Id="Rf730adb27b8b4f8e" /><Relationship Type="http://schemas.openxmlformats.org/officeDocument/2006/relationships/slide" Target="/ppt/slides/slide4.xml" Id="Rb2ba7e080d374e5a" /><Relationship Type="http://schemas.openxmlformats.org/officeDocument/2006/relationships/slide" Target="/ppt/slides/slide5.xml" Id="Rb405de51064c4a1c" /><Relationship Type="http://schemas.openxmlformats.org/officeDocument/2006/relationships/slide" Target="/ppt/slides/slide6.xml" Id="R4ffafbf9ac8a41ae" /><Relationship Type="http://schemas.openxmlformats.org/officeDocument/2006/relationships/slide" Target="/ppt/slides/slide7.xml" Id="R203827aba0a84f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d3b0daff2e46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8df5f88ab74adb" /><Relationship Type="http://schemas.openxmlformats.org/officeDocument/2006/relationships/notesMaster" Target="/ppt/notesMasters/notesMaster1.xml" Id="Rc06eab81943d4d9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0b18b0441b40b5" /><Relationship Type="http://schemas.openxmlformats.org/officeDocument/2006/relationships/notesMaster" Target="/ppt/notesMasters/notesMaster1.xml" Id="Rbe9ed2e8d0f246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f15088a38504fd6" /><Relationship Type="http://schemas.openxmlformats.org/officeDocument/2006/relationships/notesMaster" Target="/ppt/notesMasters/notesMaster1.xml" Id="R00b311a2ad924a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020e015242a4ac7" /><Relationship Type="http://schemas.openxmlformats.org/officeDocument/2006/relationships/notesMaster" Target="/ppt/notesMasters/notesMaster1.xml" Id="Ra04ca8a175b942c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f5ad683a6d34a4d" /><Relationship Type="http://schemas.openxmlformats.org/officeDocument/2006/relationships/notesMaster" Target="/ppt/notesMasters/notesMaster1.xml" Id="Rd6aefbc4c087444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67909fea5744198" /><Relationship Type="http://schemas.openxmlformats.org/officeDocument/2006/relationships/notesMaster" Target="/ppt/notesMasters/notesMaster1.xml" Id="R13ddd83e1a93457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b192bf7b908476f" /><Relationship Type="http://schemas.openxmlformats.org/officeDocument/2006/relationships/notesMaster" Target="/ppt/notesMasters/notesMaster1.xml" Id="Rdf87878c81ce40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Team Clockwork and remind everyone what Trego does: find games, join them, create profiles, and coordinate sports activity from one place.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Summarize the original plan: attendance, reputation, matchmaking, calendar integration, and stakeholder outreach. Emphasize that the plan was to make the MVP reliable.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four completed features as concrete progress since the pitch.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reasoning: attendance before reputation, announcements because coordination continues after joining, and transfer for real-life host changes.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Mention Bryan Emonts and Professor Jack Davis outreach. The key point is that stakeholder feedback narrowed the target users and marketing strategy.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team logistics: weekly meetings, Linear, Discord, Git/GitHub, and the iterative build-test-feedback process.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challenges and next steps. The conclusion is that Trego is moving from a working MVP toward a more reliable, evidence-driven platform.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7d75d389b7464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01a53c12a748c4" /><Relationship Type="http://schemas.openxmlformats.org/officeDocument/2006/relationships/slideLayout" Target="/ppt/slideLayouts/slideLayout1.xml" Id="R1b83ad51be73433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83ad51be7343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1d02cfe5ab4422" /><Relationship Type="http://schemas.openxmlformats.org/officeDocument/2006/relationships/image" Target="/ppt/media/image.png" Id="R5496b99398c04a22" /><Relationship Type="http://schemas.openxmlformats.org/officeDocument/2006/relationships/image" Target="/ppt/media/image2.png" Id="R6ae8eb7801a24783" /><Relationship Type="http://schemas.openxmlformats.org/officeDocument/2006/relationships/notesSlide" Target="/ppt/notesSlides/notesSlide1.xml" Id="R1402fda909b143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d693f29ccd40a8" /><Relationship Type="http://schemas.openxmlformats.org/officeDocument/2006/relationships/image" Target="/ppt/media/image3.png" Id="R3cfd78b4f8194834" /><Relationship Type="http://schemas.openxmlformats.org/officeDocument/2006/relationships/notesSlide" Target="/ppt/notesSlides/notesSlide2.xml" Id="R06c703ee3d6b4e5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c245375f3c47d8" /><Relationship Type="http://schemas.openxmlformats.org/officeDocument/2006/relationships/image" Target="/ppt/media/image4.png" Id="Reddb4a53ccfc4fe4" /><Relationship Type="http://schemas.openxmlformats.org/officeDocument/2006/relationships/notesSlide" Target="/ppt/notesSlides/notesSlide3.xml" Id="Rca665bb55ea1477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8585a3f8d24f63" /><Relationship Type="http://schemas.openxmlformats.org/officeDocument/2006/relationships/image" Target="/ppt/media/image5.png" Id="Rbf07365e480a455f" /><Relationship Type="http://schemas.openxmlformats.org/officeDocument/2006/relationships/notesSlide" Target="/ppt/notesSlides/notesSlide4.xml" Id="Rdb50992aa76c45d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d14fd369944848" /><Relationship Type="http://schemas.openxmlformats.org/officeDocument/2006/relationships/image" Target="/ppt/media/image6.png" Id="R43ac53ddd8604fa6" /><Relationship Type="http://schemas.openxmlformats.org/officeDocument/2006/relationships/image" Target="/ppt/media/image7.png" Id="Ra9e2777f0e1c4765" /><Relationship Type="http://schemas.openxmlformats.org/officeDocument/2006/relationships/notesSlide" Target="/ppt/notesSlides/notesSlide5.xml" Id="Re6bc7fe4ba3f4a5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604c006c03483a" /><Relationship Type="http://schemas.openxmlformats.org/officeDocument/2006/relationships/image" Target="/ppt/media/image8.png" Id="R9981d925d92f46ad" /><Relationship Type="http://schemas.openxmlformats.org/officeDocument/2006/relationships/notesSlide" Target="/ppt/notesSlides/notesSlide6.xml" Id="R4d631cb1f9e9424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a8a8d235af4ac9" /><Relationship Type="http://schemas.openxmlformats.org/officeDocument/2006/relationships/image" Target="/ppt/media/image9.png" Id="R4c752d1950a045b4" /><Relationship Type="http://schemas.openxmlformats.org/officeDocument/2006/relationships/notesSlide" Target="/ppt/notesSlides/notesSlide7.xml" Id="Rf40938294456460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CE5D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B700CE-DCF6-4107-80AE-B012F903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81050"/>
            <a:ext cx="11239500" cy="4953000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17243B"/>
          </a:solidFill>
          <a:ln xmlns:a="http://schemas.openxmlformats.org/drawingml/2006/main" w="0">
            <a:solidFill>
              <a:srgbClr val="17243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24A2DD-BE9D-41EF-B2A0-EE9ED626B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9235" y="781050"/>
            <a:ext cx="1905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333"/>
            </a:srgbClr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3325A1-26D9-4586-8B57-51AEFBF7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835" y="2343150"/>
            <a:ext cx="1828800" cy="1828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16471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B1CABC-C53C-458C-92FA-EFA2CFFF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04900"/>
            <a:ext cx="9525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E33FC3-2BBC-4B88-AC84-15D4B1964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43000"/>
            <a:ext cx="1062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1FAE74-3BD2-4FEE-9892-083B2FE83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104900"/>
            <a:ext cx="9525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5B7F68-BAD1-4DE2-9523-F75A809C5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28800"/>
            <a:ext cx="1062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A8D51D-22D8-42B0-8622-86730A0FE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104900"/>
            <a:ext cx="9525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2F6E3E-4436-45BF-8017-4D86F938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1062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DB5265-FC3B-4129-900C-A8932DBF5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104900"/>
            <a:ext cx="9525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8EC0C4-4174-477C-B8A8-2546B7798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0400"/>
            <a:ext cx="1062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3A3F88-2DF7-4A8F-9FAC-23B63137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104900"/>
            <a:ext cx="9525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55FB9A-EAD5-45AB-9714-E1FDBA70E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1062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3AB13E-D716-42EC-8144-16B08A24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104900"/>
            <a:ext cx="9525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6609F4-6AAF-444F-AF67-305EC7FA5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1062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96b99398c04a22"/>
          <a:stretch xmlns:a="http://schemas.openxmlformats.org/drawingml/2006/main"/>
        </p:blipFill>
        <p:spPr>
          <a:xfrm xmlns:a="http://schemas.openxmlformats.org/drawingml/2006/main">
            <a:off x="6572250" y="1047750"/>
            <a:ext cx="4524375" cy="3333750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e8eb7801a24783"/>
          <a:stretch xmlns:a="http://schemas.openxmlformats.org/drawingml/2006/main"/>
        </p:blipFill>
        <p:spPr>
          <a:xfrm xmlns:a="http://schemas.openxmlformats.org/drawingml/2006/main">
            <a:off x="819150" y="1104900"/>
            <a:ext cx="1123950" cy="11239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655EFA-8C50-4277-903C-22D08833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19350"/>
            <a:ext cx="1619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791F"/>
          </a:solidFill>
          <a:ln xmlns:a="http://schemas.openxmlformats.org/drawingml/2006/main" w="0">
            <a:solidFill>
              <a:srgbClr val="E8791F"/>
            </a:solidFill>
            <a:prstDash val="solid"/>
          </a:ln>
        </p:spPr>
        <p:txBody>
          <a:bodyPr xmlns:a="http://schemas.openxmlformats.org/drawingml/2006/main" lIns="114300" tIns="38100" rIns="1143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Team Clockwork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76A5B8-0A52-41E0-89AD-088494B9F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95600"/>
            <a:ext cx="533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B"/>
          </a:solidFill>
          <a:ln xmlns:a="http://schemas.openxmlformats.org/drawingml/2006/main" w="0">
            <a:solidFill>
              <a:srgbClr val="17243B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Trego Midterm Update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B2075E-7266-4084-9350-5A2568E6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81450"/>
            <a:ext cx="533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B"/>
          </a:solidFill>
          <a:ln xmlns:a="http://schemas.openxmlformats.org/drawingml/2006/main" w="0">
            <a:solidFill>
              <a:srgbClr val="17243B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E0C6"/>
                </a:solidFill>
                <a:latin typeface="Avenir Next"/>
                <a:ea typeface="Avenir Next"/>
                <a:cs typeface="Avenir Next"/>
              </a:defRPr>
            </a:pPr>
            <a:r>
              <a:t>A centralized platform for sports discovery and coordination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906132-BA32-4743-8B68-ADB02B36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38700"/>
            <a:ext cx="2857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6275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24B652-A1E2-4985-9F5D-56EF62CF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387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91F"/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79EB76-8E0F-469D-938B-4C72715F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101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43B"/>
                </a:solidFill>
                <a:latin typeface="Avenir Next"/>
                <a:ea typeface="Avenir Next"/>
                <a:cs typeface="Avenir Next"/>
              </a:defRPr>
            </a:pPr>
            <a:r>
              <a:t>Find games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94B573-9645-4455-BE59-09C817CAD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72100"/>
            <a:ext cx="2209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Discover nearby pickup games by sport and location.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0F29F1-AF7C-42BD-B9E4-A22287F8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838700"/>
            <a:ext cx="2857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6275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3071F5-573E-4642-B282-DB587FA6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8387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68"/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77443C-F3F6-4DEB-B895-086A1109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0101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43B"/>
                </a:solidFill>
                <a:latin typeface="Avenir Next"/>
                <a:ea typeface="Avenir Next"/>
                <a:cs typeface="Avenir Next"/>
              </a:defRPr>
            </a:pPr>
            <a:r>
              <a:t>Join + coordinate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9F5A39-696B-40FD-B8DE-381FFCFB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372100"/>
            <a:ext cx="2209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Profiles, rosters, reminders, and host updates.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4B76A0-923D-4D37-A243-D54B261A9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38700"/>
            <a:ext cx="2857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6275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24E2F1-EE01-4368-8A3A-611D4F5DA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387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C4811A-2BCE-4C47-B43B-A83E5A91B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0101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43B"/>
                </a:solidFill>
                <a:latin typeface="Avenir Next"/>
                <a:ea typeface="Avenir Next"/>
                <a:cs typeface="Avenir Next"/>
              </a:defRPr>
            </a:pPr>
            <a:r>
              <a:t>Manage activity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202DF2-1FB0-47DE-A59D-16C30F12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372100"/>
            <a:ext cx="2209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Create games and keep the game organized.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306953-EFD4-4709-916E-0739FC64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FAA"/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F7BBA4-E876-47FA-BAF9-1F0E72029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762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Sources: ppt-prompt.txt, README.md, Trego assets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AFEFCFB-5BCF-4863-9433-D9D4B896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E8791F"/>
                </a:solidFill>
                <a:latin typeface="Avenir Next"/>
                <a:ea typeface="Avenir Next"/>
                <a:cs typeface="Avenir Next"/>
              </a:defRPr>
            </a:pPr>
            <a: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647887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CE5D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fd78b4f8194834"/>
          <a:stretch xmlns:a="http://schemas.openxmlformats.org/drawingml/2006/main"/>
        </p:blipFill>
        <p:spPr>
          <a:xfrm xmlns:a="http://schemas.openxmlformats.org/drawingml/2006/main">
            <a:off x="10629900" y="32385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5EBCE4-35EE-450D-8AD4-4C9FE8AD2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243B"/>
                </a:solidFill>
                <a:latin typeface="Avenir Next"/>
                <a:ea typeface="Avenir Next"/>
                <a:cs typeface="Avenir Next"/>
              </a:defRPr>
            </a:pPr>
            <a:r>
              <a:t>Trego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9813AF-2D92-43BB-86AE-E75D226B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91F"/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B0A72D-E23C-4605-BA07-BE38F144D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3375"/>
            <a:ext cx="3238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0" tIns="38100" rIns="0" bIns="3810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791F"/>
                </a:solidFill>
                <a:latin typeface="Avenir Next"/>
                <a:ea typeface="Avenir Next"/>
                <a:cs typeface="Avenir Next"/>
              </a:defRPr>
            </a:pPr>
            <a:r>
              <a:t>WHERE WE LEFT OFF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0764FF-765E-400E-BAA6-FAF825830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572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43B"/>
                </a:solidFill>
                <a:latin typeface="Avenir Next"/>
                <a:ea typeface="Avenir Next"/>
                <a:cs typeface="Avenir Next"/>
              </a:defRPr>
            </a:pPr>
            <a:r>
              <a:t>The pitch roadmap was about moving beyond a basic MVP.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E771BE-E51D-4B4B-903F-F0B7873B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4785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The goal was a more reliable sports coordination platform, not just a game listing page.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31D6F1-3E37-437A-B098-44D73C85A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2952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7059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9D4045-4E95-467E-A50F-5C905B68A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91F"/>
          </a:solidFill>
          <a:ln xmlns:a="http://schemas.openxmlformats.org/drawingml/2006/main" w="0">
            <a:solidFill>
              <a:srgbClr val="E8791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AA342D-6610-401E-B6CC-F3669AA2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52725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91F"/>
          </a:solidFill>
          <a:ln xmlns:a="http://schemas.openxmlformats.org/drawingml/2006/main" w="0">
            <a:solidFill>
              <a:srgbClr val="E8791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AT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11324C-F2FA-4009-964B-2F18DDD12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6098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43B"/>
                </a:solidFill>
                <a:latin typeface="Avenir Next"/>
                <a:ea typeface="Avenir Next"/>
                <a:cs typeface="Avenir Next"/>
              </a:defRPr>
            </a:pPr>
            <a:r>
              <a:t>Attendance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EF76F9-FDB4-491F-901E-9F83270BA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914650"/>
            <a:ext cx="1752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Track whether players actually show up.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F38E0F-89AB-4A06-B889-29FF28B5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400300"/>
            <a:ext cx="2952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7059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0C1FF8-F1DE-4097-A669-3F4EC9F7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67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68"/>
          </a:solidFill>
          <a:ln xmlns:a="http://schemas.openxmlformats.org/drawingml/2006/main" w="0">
            <a:solidFill>
              <a:srgbClr val="0B8F6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9B3258-C2D3-4842-B383-25F5B28A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52725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68"/>
          </a:solidFill>
          <a:ln xmlns:a="http://schemas.openxmlformats.org/drawingml/2006/main" w="0">
            <a:solidFill>
              <a:srgbClr val="0B8F68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RP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2A477B-1378-4771-A3B1-166506976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6098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43B"/>
                </a:solidFill>
                <a:latin typeface="Avenir Next"/>
                <a:ea typeface="Avenir Next"/>
                <a:cs typeface="Avenir Next"/>
              </a:defRPr>
            </a:pPr>
            <a:r>
              <a:t>Reputation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678B13-7D78-4DFD-A364-427EA3F9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914650"/>
            <a:ext cx="1752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Use reliability carefully, without unfair scoring.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46B206-82C5-4CD3-A848-6E35BCFB3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400300"/>
            <a:ext cx="2952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7059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076B2E-5EAD-4C59-9728-4C67087F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67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2D6C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434757-FE42-4626-92C8-BA41E9073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52725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2D6CD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MM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656C4F-5464-462C-A392-FBA38B8C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098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43B"/>
                </a:solidFill>
                <a:latin typeface="Avenir Next"/>
                <a:ea typeface="Avenir Next"/>
                <a:cs typeface="Avenir Next"/>
              </a:defRPr>
            </a:pPr>
            <a:r>
              <a:t>Matchmaking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127197-BC6D-4362-8839-DF0B1FF94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914650"/>
            <a:ext cx="1752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Recommend games by location, skill, and preferences.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8AA433-0012-429F-8E48-BE464279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29050"/>
            <a:ext cx="2952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7059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627C77-0769-4DF3-95C5-F5D760098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957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91F"/>
          </a:solidFill>
          <a:ln xmlns:a="http://schemas.openxmlformats.org/drawingml/2006/main" w="0">
            <a:solidFill>
              <a:srgbClr val="E8791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BF19E4-3F30-4C77-8264-4841F93E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81475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91F"/>
          </a:solidFill>
          <a:ln xmlns:a="http://schemas.openxmlformats.org/drawingml/2006/main" w="0">
            <a:solidFill>
              <a:srgbClr val="E8791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CA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0B8E3D-2869-46D8-8408-089AFDDA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0386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43B"/>
                </a:solidFill>
                <a:latin typeface="Avenir Next"/>
                <a:ea typeface="Avenir Next"/>
                <a:cs typeface="Avenir Next"/>
              </a:defRPr>
            </a:pPr>
            <a:r>
              <a:t>Calendar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FA0966-4844-47E7-8523-EA638B3E2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343400"/>
            <a:ext cx="1752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Reduce forgetfulness with reminders.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55EB80-DBD7-4246-852C-2B901E96C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829050"/>
            <a:ext cx="2952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7059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CE84EE-B90C-464A-94D6-84FC5E49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957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68"/>
          </a:solidFill>
          <a:ln xmlns:a="http://schemas.openxmlformats.org/drawingml/2006/main" w="0">
            <a:solidFill>
              <a:srgbClr val="0B8F6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C6B676-003D-42C5-87E3-357933CAE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181475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68"/>
          </a:solidFill>
          <a:ln xmlns:a="http://schemas.openxmlformats.org/drawingml/2006/main" w="0">
            <a:solidFill>
              <a:srgbClr val="0B8F68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B49276-4694-475E-8CC0-2DCE1F71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0386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43B"/>
                </a:solidFill>
                <a:latin typeface="Avenir Next"/>
                <a:ea typeface="Avenir Next"/>
                <a:cs typeface="Avenir Next"/>
              </a:defRPr>
            </a:pPr>
            <a:r>
              <a:t>Stakeholders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204039-CCDC-46AC-86F0-13E37C1F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343400"/>
            <a:ext cx="1752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Validate adoption with real recreation leaders.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40E0D9-CD9E-419B-8AAB-C9F9F30F8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48300"/>
            <a:ext cx="8953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7243B"/>
          </a:solidFill>
          <a:ln xmlns:a="http://schemas.openxmlformats.org/drawingml/2006/main" w="0">
            <a:solidFill>
              <a:srgbClr val="17243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Midterm shift: keep the roadmap, but validate the reliable coordination pieces first.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23B246-B625-474A-8319-8615D474B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FAA"/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5497F9-3705-4483-B675-1FC70F0EF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762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Sources: ppt-prompt.txt, midterm script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52050FE-8253-4E50-8D81-7E288F9C9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E8791F"/>
                </a:solidFill>
                <a:latin typeface="Avenir Next"/>
                <a:ea typeface="Avenir Next"/>
                <a:cs typeface="Avenir Next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648846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CE5D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db4a53ccfc4fe4"/>
          <a:stretch xmlns:a="http://schemas.openxmlformats.org/drawingml/2006/main"/>
        </p:blipFill>
        <p:spPr>
          <a:xfrm xmlns:a="http://schemas.openxmlformats.org/drawingml/2006/main">
            <a:off x="10629900" y="32385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57C98E-8AF9-4044-8481-34FF94EA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243B"/>
                </a:solidFill>
                <a:latin typeface="Avenir Next"/>
                <a:ea typeface="Avenir Next"/>
                <a:cs typeface="Avenir Next"/>
              </a:defRPr>
            </a:pPr>
            <a:r>
              <a:t>Trego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04FC58-E5D0-415E-9E97-EC2001CB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91F"/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28D324-A871-4A20-91B9-4BB293818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3375"/>
            <a:ext cx="3238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0" tIns="38100" rIns="0" bIns="3810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791F"/>
                </a:solidFill>
                <a:latin typeface="Avenir Next"/>
                <a:ea typeface="Avenir Next"/>
                <a:cs typeface="Avenir Next"/>
              </a:defRPr>
            </a:pPr>
            <a:r>
              <a:t>PROGRESS SINCE PITCH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FDA1C2-2002-4D4F-9ECB-433EDCDFF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572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43B"/>
                </a:solidFill>
                <a:latin typeface="Avenir Next"/>
                <a:ea typeface="Avenir Next"/>
                <a:cs typeface="Avenir Next"/>
              </a:defRPr>
            </a:pPr>
            <a:r>
              <a:t>We shipped concrete features that make games easier to coordinate.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5FACFF-7A67-4A0D-8927-1356C7899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4785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These are development milestones, not just design ideas.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E07D9E-AFC5-4D17-9B8B-3A17D23F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2247900" cy="238125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7059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765653-BCD3-4273-AC40-4B80D66F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194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91F"/>
          </a:solidFill>
          <a:ln xmlns:a="http://schemas.openxmlformats.org/drawingml/2006/main" w="0">
            <a:solidFill>
              <a:srgbClr val="E8791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18618D-4AC9-4082-BE75-81F18F364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05125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91F"/>
          </a:solidFill>
          <a:ln xmlns:a="http://schemas.openxmlformats.org/drawingml/2006/main" w="0">
            <a:solidFill>
              <a:srgbClr val="E8791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CA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44DA4D-572A-4FB5-B3F2-FE3146F66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290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43B"/>
                </a:solidFill>
                <a:latin typeface="Avenir Next"/>
                <a:ea typeface="Avenir Next"/>
                <a:cs typeface="Avenir Next"/>
              </a:defRPr>
            </a:pPr>
            <a:r>
              <a:t>Calendar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BFDE93-CBDD-4794-A272-A97C5BF4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05250"/>
            <a:ext cx="1695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Google Calendar integration for game reminders.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3259B6-E7AD-40DA-ADCF-C15D5221E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95550"/>
            <a:ext cx="2247900" cy="238125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7059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85A8F2-6570-419C-BA12-5F0A98750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8194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68"/>
          </a:solidFill>
          <a:ln xmlns:a="http://schemas.openxmlformats.org/drawingml/2006/main" w="0">
            <a:solidFill>
              <a:srgbClr val="0B8F6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CFF911-7794-42D5-B9AB-51E703752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905125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68"/>
          </a:solidFill>
          <a:ln xmlns:a="http://schemas.openxmlformats.org/drawingml/2006/main" w="0">
            <a:solidFill>
              <a:srgbClr val="0B8F68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AT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A63E06-CDBB-4DB4-AE83-1DF8EDF32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4290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43B"/>
                </a:solidFill>
                <a:latin typeface="Avenir Next"/>
                <a:ea typeface="Avenir Next"/>
                <a:cs typeface="Avenir Next"/>
              </a:defRPr>
            </a:pPr>
            <a:r>
              <a:t>Attendance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E6606A-32EE-443C-86FE-7BEF6F87B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905250"/>
            <a:ext cx="1695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Game owner submits attendance after the game.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2FAAE0-D5C5-4B49-AB3B-6633A259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95550"/>
            <a:ext cx="2247900" cy="238125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7059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2B435E-92CC-4B2F-8F09-E30559DB9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194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2D6C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DA477D-4460-4286-8E40-66F1C9CD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05125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2D6CD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A009BE-2C3C-45AF-AC61-71393A8B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290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43B"/>
                </a:solidFill>
                <a:latin typeface="Avenir Next"/>
                <a:ea typeface="Avenir Next"/>
                <a:cs typeface="Avenir Next"/>
              </a:defRPr>
            </a:pPr>
            <a:r>
              <a:t>Announcements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971E02-1DF2-41D9-ACAA-9C5038678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05250"/>
            <a:ext cx="1695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Hosts update attending players from the game page.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8D761B-1498-4C37-8D22-8526CF0F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95550"/>
            <a:ext cx="2247900" cy="238125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17243B"/>
          </a:solidFill>
          <a:ln xmlns:a="http://schemas.openxmlformats.org/drawingml/2006/main" w="9525">
            <a:solidFill>
              <a:srgbClr val="000000">
                <a:alpha val="7059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1CE5A1-1B38-4296-A23B-930B14D2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194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43B"/>
          </a:solidFill>
          <a:ln xmlns:a="http://schemas.openxmlformats.org/drawingml/2006/main" w="0">
            <a:solidFill>
              <a:srgbClr val="1724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A3127E-CDF0-4B66-8E7C-C2BE55D7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905125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B"/>
          </a:solidFill>
          <a:ln xmlns:a="http://schemas.openxmlformats.org/drawingml/2006/main" w="0">
            <a:solidFill>
              <a:srgbClr val="17243B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TR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F6467F-CB37-4860-A19A-38445B1B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4290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B"/>
          </a:solidFill>
          <a:ln xmlns:a="http://schemas.openxmlformats.org/drawingml/2006/main" w="0">
            <a:solidFill>
              <a:srgbClr val="17243B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Transfer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42BEF6-271F-41A0-B970-F479EA3A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905250"/>
            <a:ext cx="1695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B"/>
          </a:solidFill>
          <a:ln xmlns:a="http://schemas.openxmlformats.org/drawingml/2006/main" w="0">
            <a:solidFill>
              <a:srgbClr val="17243B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5EA"/>
                </a:solidFill>
                <a:latin typeface="Avenir Next"/>
                <a:ea typeface="Avenir Next"/>
                <a:cs typeface="Avenir Next"/>
              </a:defRPr>
            </a:pPr>
            <a:r>
              <a:t>Host can transfer ownership when needed.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70D65E-67A8-4A4D-AEF8-EB061C639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10200"/>
            <a:ext cx="9334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7243B"/>
          </a:solidFill>
          <a:ln xmlns:a="http://schemas.openxmlformats.org/drawingml/2006/main" w="0">
            <a:solidFill>
              <a:srgbClr val="17243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Together, these move Trego from “find and join” toward “help the game actually happen.”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D3996E-8628-4BFF-890C-42AAA74DC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FAA"/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A14DBF-0D9B-4E84-847A-EB7B1A8A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762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Sources: calendar/sync.ts, mark-attendance.ts, send-game-announcement.ts, transfer-game-host.ts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6BC847-59DC-4280-BA61-8B17B19AC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E8791F"/>
                </a:solidFill>
                <a:latin typeface="Avenir Next"/>
                <a:ea typeface="Avenir Next"/>
                <a:cs typeface="Avenir Next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605995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CE5D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07365e480a455f"/>
          <a:stretch xmlns:a="http://schemas.openxmlformats.org/drawingml/2006/main"/>
        </p:blipFill>
        <p:spPr>
          <a:xfrm xmlns:a="http://schemas.openxmlformats.org/drawingml/2006/main">
            <a:off x="10629900" y="32385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D27457-FCF6-41C3-8CD3-14D8AB6F8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243B"/>
                </a:solidFill>
                <a:latin typeface="Avenir Next"/>
                <a:ea typeface="Avenir Next"/>
                <a:cs typeface="Avenir Next"/>
              </a:defRPr>
            </a:pPr>
            <a:r>
              <a:t>Trego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2BC152-EA3D-46B5-9700-CF61A524E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91F"/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91A9F4-230E-4DE4-8C69-EEC4F110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3375"/>
            <a:ext cx="3238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0" tIns="38100" rIns="0" bIns="3810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791F"/>
                </a:solidFill>
                <a:latin typeface="Avenir Next"/>
                <a:ea typeface="Avenir Next"/>
                <a:cs typeface="Avenir Next"/>
              </a:defRPr>
            </a:pPr>
            <a:r>
              <a:t>DESIGN DECISIONS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EEF6B7-8335-4364-B980-6F105C011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572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43B"/>
                </a:solidFill>
                <a:latin typeface="Avenir Next"/>
                <a:ea typeface="Avenir Next"/>
                <a:cs typeface="Avenir Next"/>
              </a:defRPr>
            </a:pPr>
            <a:r>
              <a:t>Recent work focuses on reliability and coordination.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1610B4-ED9E-4CF5-BE37-89DDAF041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4785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We chose simple, useful versions first so the team can learn from real behavior.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34E207-CAE7-4536-992A-BEC61FDF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48577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7059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749536-A714-4F3E-8227-D77ADE2B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24150"/>
            <a:ext cx="361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76200" rIns="76200" bIns="762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43B"/>
                </a:solidFill>
                <a:latin typeface="Avenir Next"/>
                <a:ea typeface="Avenir Next"/>
                <a:cs typeface="Avenir Next"/>
              </a:defRPr>
            </a:pPr>
            <a:r>
              <a:t>Why not full reputation yet?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8A6661-C558-49B1-B2B6-734A408D3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09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91F"/>
          </a:solidFill>
          <a:ln xmlns:a="http://schemas.openxmlformats.org/drawingml/2006/main" w="0">
            <a:solidFill>
              <a:srgbClr val="E8791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435C26-12AB-4A76-AEDE-F1507C1A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33750"/>
            <a:ext cx="361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43B"/>
                </a:solidFill>
                <a:latin typeface="Avenir Next"/>
                <a:ea typeface="Avenir Next"/>
                <a:cs typeface="Avenir Next"/>
              </a:defRPr>
            </a:pPr>
            <a:r>
              <a:t>Avoid unfair scores before edge cases are understood.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429B17-DF93-477C-8475-A33D79FC2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05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68"/>
          </a:solidFill>
          <a:ln xmlns:a="http://schemas.openxmlformats.org/drawingml/2006/main" w="0">
            <a:solidFill>
              <a:srgbClr val="0B8F6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F9F769-7871-4DB0-94CE-19BFE0944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29050"/>
            <a:ext cx="361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43B"/>
                </a:solidFill>
                <a:latin typeface="Avenir Next"/>
                <a:ea typeface="Avenir Next"/>
                <a:cs typeface="Avenir Next"/>
              </a:defRPr>
            </a:pPr>
            <a:r>
              <a:t>Collect attendance data first.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C392FC-3389-49FF-9050-2456EBCA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005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2D6C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741EFF-3465-497C-A6D4-25274A38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24350"/>
            <a:ext cx="361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43B"/>
                </a:solidFill>
                <a:latin typeface="Avenir Next"/>
                <a:ea typeface="Avenir Next"/>
                <a:cs typeface="Avenir Next"/>
              </a:defRPr>
            </a:pPr>
            <a:r>
              <a:t>Then decide whether reputation should exist.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501A57-06DB-41FF-B5E6-2DC21C0F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00300"/>
            <a:ext cx="48577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7243B"/>
          </a:solidFill>
          <a:ln xmlns:a="http://schemas.openxmlformats.org/drawingml/2006/main" w="0">
            <a:solidFill>
              <a:srgbClr val="17243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8ED8A4-CDB8-4279-957A-04FA31085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72415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B"/>
          </a:solidFill>
          <a:ln xmlns:a="http://schemas.openxmlformats.org/drawingml/2006/main" w="0">
            <a:solidFill>
              <a:srgbClr val="17243B"/>
            </a:solidFill>
            <a:prstDash val="solid"/>
          </a:ln>
        </p:spPr>
        <p:txBody>
          <a:bodyPr xmlns:a="http://schemas.openxmlformats.org/drawingml/2006/main" lIns="76200" tIns="76200" rIns="76200" bIns="762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Why announcements + transfer?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670285-6389-492E-9471-A5835A2F7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409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91F"/>
          </a:solidFill>
          <a:ln xmlns:a="http://schemas.openxmlformats.org/drawingml/2006/main" w="0">
            <a:solidFill>
              <a:srgbClr val="E8791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696C04-FADD-4375-BF8C-CE6AF863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33375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B"/>
          </a:solidFill>
          <a:ln xmlns:a="http://schemas.openxmlformats.org/drawingml/2006/main" w="0">
            <a:solidFill>
              <a:srgbClr val="17243B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Coordination continues after a player joins.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3A59F2-B11F-4417-BF08-2949E5F61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905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68"/>
          </a:solidFill>
          <a:ln xmlns:a="http://schemas.openxmlformats.org/drawingml/2006/main" w="0">
            <a:solidFill>
              <a:srgbClr val="0B8F6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1F0500-1022-4A45-B773-8EEE54307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82905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B"/>
          </a:solidFill>
          <a:ln xmlns:a="http://schemas.openxmlformats.org/drawingml/2006/main" w="0">
            <a:solidFill>
              <a:srgbClr val="17243B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Hosts need a clear place for last-minute updates.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8D6E3C-5339-4DDD-B1B9-812DF5A82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4005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2D6CD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BD8275-7BD9-4353-91BF-B430E26B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32435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B"/>
          </a:solidFill>
          <a:ln xmlns:a="http://schemas.openxmlformats.org/drawingml/2006/main" w="0">
            <a:solidFill>
              <a:srgbClr val="17243B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Games should not depend on one original host.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2EC25F-908A-41E6-9325-914255512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486400"/>
            <a:ext cx="8801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8791F"/>
          </a:solidFill>
          <a:ln xmlns:a="http://schemas.openxmlformats.org/drawingml/2006/main" w="0">
            <a:solidFill>
              <a:srgbClr val="E8791F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Main message: build reliability into the core flow before adding heavier systems.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442C01-804F-4235-85E9-B5911ECF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FAA"/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4A88F0-706A-45AC-81FB-5164D870C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762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Sources: ppt-prompt.txt, attendance and announcement modules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D0A552-8683-4EA3-9C4E-EDF8892C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E8791F"/>
                </a:solidFill>
                <a:latin typeface="Avenir Next"/>
                <a:ea typeface="Avenir Next"/>
                <a:cs typeface="Avenir Next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301181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CE5D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ac53ddd8604fa6"/>
          <a:stretch xmlns:a="http://schemas.openxmlformats.org/drawingml/2006/main"/>
        </p:blipFill>
        <p:spPr>
          <a:xfrm xmlns:a="http://schemas.openxmlformats.org/drawingml/2006/main">
            <a:off x="10629900" y="32385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4A4D6F-F561-40B3-B893-D5B61D91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243B"/>
                </a:solidFill>
                <a:latin typeface="Avenir Next"/>
                <a:ea typeface="Avenir Next"/>
                <a:cs typeface="Avenir Next"/>
              </a:defRPr>
            </a:pPr>
            <a:r>
              <a:t>Trego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C044D4-3419-4654-8714-B9280EF8F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91F"/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C9F322-A007-41F2-8118-BE5BEF85D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3375"/>
            <a:ext cx="3238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0" tIns="38100" rIns="0" bIns="3810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791F"/>
                </a:solidFill>
                <a:latin typeface="Avenir Next"/>
                <a:ea typeface="Avenir Next"/>
                <a:cs typeface="Avenir Next"/>
              </a:defRPr>
            </a:pPr>
            <a:r>
              <a:t>STAKEHOLDER ENGAGEMENT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3B092B-F931-4D20-92FD-CB8911E7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572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43B"/>
                </a:solidFill>
                <a:latin typeface="Avenir Next"/>
                <a:ea typeface="Avenir Next"/>
                <a:cs typeface="Avenir Next"/>
              </a:defRPr>
            </a:pPr>
            <a:r>
              <a:t>Feedback narrowed the rollout toward users with the clearest pain.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FDC198-6A4B-4301-A1B3-B9C96C0D2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4785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We met with Bryan Emonts from UW Athletics and Recreation and reached out to Professor Jack Davis for feedback and mentorship.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e2777f0e1c4765"/>
          <a:stretch xmlns:a="http://schemas.openxmlformats.org/drawingml/2006/main"/>
        </p:blipFill>
        <p:spPr>
          <a:xfrm xmlns:a="http://schemas.openxmlformats.org/drawingml/2006/main">
            <a:off x="723900" y="2552700"/>
            <a:ext cx="4362450" cy="24574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2AA381-EE72-464C-B4CB-EC3A6E79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436245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243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7E359D-D07D-4F7A-AACF-336615992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7243B"/>
          </a:solidFill>
          <a:ln xmlns:a="http://schemas.openxmlformats.org/drawingml/2006/main" w="0">
            <a:solidFill>
              <a:srgbClr val="17243B"/>
            </a:solidFill>
            <a:prstDash val="solid"/>
          </a:ln>
        </p:spPr>
        <p:txBody>
          <a:bodyPr xmlns:a="http://schemas.openxmlformats.org/drawingml/2006/main" lIns="114300" tIns="38100" rIns="1143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Bryan Emonts: UW Recreation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C668FF-45B9-4EF6-BF35-EBCAC705F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9555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76200" tIns="76200" rIns="76200" bIns="762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43B"/>
                </a:solidFill>
                <a:latin typeface="Avenir Next"/>
                <a:ea typeface="Avenir Next"/>
                <a:cs typeface="Avenir Next"/>
              </a:defRPr>
            </a:pPr>
            <a:r>
              <a:t>What changed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5AD454-5D56-4A13-BDA8-7A2E9B98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1051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91F"/>
          </a:solidFill>
          <a:ln xmlns:a="http://schemas.openxmlformats.org/drawingml/2006/main" w="0">
            <a:solidFill>
              <a:srgbClr val="E8791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21168F-CA12-4D1E-B154-8D629501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2895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43B"/>
                </a:solidFill>
                <a:latin typeface="Avenir Next"/>
                <a:ea typeface="Avenir Next"/>
                <a:cs typeface="Avenir Next"/>
              </a:defRPr>
            </a:pPr>
            <a:r>
              <a:t>Focus on daytime users, especially 9 AM-5 PM.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8B1BCD-EFF6-4111-9CA9-9AE6E2A3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600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68"/>
          </a:solidFill>
          <a:ln xmlns:a="http://schemas.openxmlformats.org/drawingml/2006/main" w="0">
            <a:solidFill>
              <a:srgbClr val="0B8F6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3ADAA6-821B-43C9-B266-543209AF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52425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43B"/>
                </a:solidFill>
                <a:latin typeface="Avenir Next"/>
                <a:ea typeface="Avenir Next"/>
                <a:cs typeface="Avenir Next"/>
              </a:defRPr>
            </a:pPr>
            <a:r>
              <a:t>Prioritize first- and second-year students.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069373-3F8E-49E6-8C30-0F2689E64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095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2D6C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5C6510-EE39-4BE2-93D9-381324FD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01955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43B"/>
                </a:solidFill>
                <a:latin typeface="Avenir Next"/>
                <a:ea typeface="Avenir Next"/>
                <a:cs typeface="Avenir Next"/>
              </a:defRPr>
            </a:pPr>
            <a:r>
              <a:t>Do not rely only on established clubs.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9CAD40-C96A-45D6-996B-B0DAFB0A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5910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91F"/>
          </a:solidFill>
          <a:ln xmlns:a="http://schemas.openxmlformats.org/drawingml/2006/main" w="0">
            <a:solidFill>
              <a:srgbClr val="E8791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F58CB7-8F7F-4C83-8546-2CE2D848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51485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43B"/>
                </a:solidFill>
                <a:latin typeface="Avenir Next"/>
                <a:ea typeface="Avenir Next"/>
                <a:cs typeface="Avenir Next"/>
              </a:defRPr>
            </a:pPr>
            <a:r>
              <a:t>Use boots-on-the-ground marketing and social proof.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AAEFEF-92A2-404D-B6A2-AD04FF88F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467350"/>
            <a:ext cx="88773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7243B"/>
          </a:solidFill>
          <a:ln xmlns:a="http://schemas.openxmlformats.org/drawingml/2006/main" w="0">
            <a:solidFill>
              <a:srgbClr val="17243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Rollout implication: find the users who do not already have a stable sports network.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D47A0A-267D-4B2C-87EB-6C143A998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FAA"/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B71DA2-1E6E-4610-BCF0-7C82ECA03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762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Sources: ppt-prompt.txt, stakeholder notes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08CFAA-F304-4477-8A9A-892F43E8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E8791F"/>
                </a:solidFill>
                <a:latin typeface="Avenir Next"/>
                <a:ea typeface="Avenir Next"/>
                <a:cs typeface="Avenir Next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032043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CE5D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81d925d92f46ad"/>
          <a:stretch xmlns:a="http://schemas.openxmlformats.org/drawingml/2006/main"/>
        </p:blipFill>
        <p:spPr>
          <a:xfrm xmlns:a="http://schemas.openxmlformats.org/drawingml/2006/main">
            <a:off x="10629900" y="32385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4BB0DC-9E82-4624-BD90-E7A71899D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243B"/>
                </a:solidFill>
                <a:latin typeface="Avenir Next"/>
                <a:ea typeface="Avenir Next"/>
                <a:cs typeface="Avenir Next"/>
              </a:defRPr>
            </a:pPr>
            <a:r>
              <a:t>Trego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D1FE83-4462-492D-A43D-646B74F12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91F"/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D103EE-AFD6-417B-8077-A160D14F4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3375"/>
            <a:ext cx="3238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0" tIns="38100" rIns="0" bIns="3810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791F"/>
                </a:solidFill>
                <a:latin typeface="Avenir Next"/>
                <a:ea typeface="Avenir Next"/>
                <a:cs typeface="Avenir Next"/>
              </a:defRPr>
            </a:pPr>
            <a:r>
              <a:t>TEAM LOGISTICS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3AF15A-93BF-46FA-B2A6-DD3F8B227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572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43B"/>
                </a:solidFill>
                <a:latin typeface="Avenir Next"/>
                <a:ea typeface="Avenir Next"/>
                <a:cs typeface="Avenir Next"/>
              </a:defRPr>
            </a:pPr>
            <a:r>
              <a:t>The team workflow is now structured around steady progress and risk tracking.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AA3B89-BE29-4371-A461-4D6180D5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4785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This slide focuses on how we organize work, not individual ownership.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2179AA-C6D4-41E8-B397-2BB2486D4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4762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6275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0089AA-78C8-4E69-919E-50ADDEBCB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24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91F"/>
          </a:solidFill>
          <a:ln xmlns:a="http://schemas.openxmlformats.org/drawingml/2006/main" w="0">
            <a:solidFill>
              <a:srgbClr val="E8791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941C3A-71BB-42C6-BC5E-DEFA7E23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09875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91F"/>
          </a:solidFill>
          <a:ln xmlns:a="http://schemas.openxmlformats.org/drawingml/2006/main" w="0">
            <a:solidFill>
              <a:srgbClr val="E8791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62E34D-78EE-474E-9182-45895F710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6289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8791F"/>
                </a:solidFill>
                <a:latin typeface="Avenir Next"/>
                <a:ea typeface="Avenir Next"/>
                <a:cs typeface="Avenir Next"/>
              </a:defRPr>
            </a:pPr>
            <a:r>
              <a:t>Meetings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0D10B-77EC-4A70-B875-28262B3DD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64795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Weekly in-person planning, progress updates, and blocker resolution.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111AAA-60EA-4A9A-8527-190853607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19350"/>
            <a:ext cx="4762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6275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A9023A-0BEC-45EA-89C5-8F0DC32FB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24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68"/>
          </a:solidFill>
          <a:ln xmlns:a="http://schemas.openxmlformats.org/drawingml/2006/main" w="0">
            <a:solidFill>
              <a:srgbClr val="0B8F6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A162B7-24AA-435A-8FDD-2B6DB9BCE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09875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68"/>
          </a:solidFill>
          <a:ln xmlns:a="http://schemas.openxmlformats.org/drawingml/2006/main" w="0">
            <a:solidFill>
              <a:srgbClr val="0B8F68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LI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E34F20-411A-4BAE-A318-A235FC08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6289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8F68"/>
                </a:solidFill>
                <a:latin typeface="Avenir Next"/>
                <a:ea typeface="Avenir Next"/>
                <a:cs typeface="Avenir Next"/>
              </a:defRPr>
            </a:pPr>
            <a:r>
              <a:t>Linear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AFC9D4-A232-4B6D-84D7-CF4AC2637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4795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Task management, backlog tracking, priorities, and sprint-style organization.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1FA9E5-BD35-4E8B-B6AC-4F2B36DE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4762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6275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471871-30F6-4321-8F99-65756CEDD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148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2D6C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7EF695-E1E8-43F8-B29C-D22E8B17D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00525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2D6CD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DI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3FD41E-E669-45F0-AA36-159C1395D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0195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D6CDF"/>
                </a:solidFill>
                <a:latin typeface="Avenir Next"/>
                <a:ea typeface="Avenir Next"/>
                <a:cs typeface="Avenir Next"/>
              </a:defRPr>
            </a:pPr>
            <a:r>
              <a:t>Discord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B68537-5F7C-460A-944C-C101B0B3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03860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Async communication, quick questions, and day-to-day coordination.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E67397-DDF8-452D-BE15-1C1436D3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810000"/>
            <a:ext cx="4762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6275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BB870D-DE53-480E-AD3C-2B99D3FB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148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43B"/>
          </a:solidFill>
          <a:ln xmlns:a="http://schemas.openxmlformats.org/drawingml/2006/main" w="0">
            <a:solidFill>
              <a:srgbClr val="1724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969726-3AC4-4099-8BB5-E9D33983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00525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B"/>
          </a:solidFill>
          <a:ln xmlns:a="http://schemas.openxmlformats.org/drawingml/2006/main" w="0">
            <a:solidFill>
              <a:srgbClr val="17243B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GH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F94088-71EC-491A-BB90-7AE10170F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0195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43B"/>
                </a:solidFill>
                <a:latin typeface="Avenir Next"/>
                <a:ea typeface="Avenir Next"/>
                <a:cs typeface="Avenir Next"/>
              </a:defRPr>
            </a:pPr>
            <a:r>
              <a:t>GitHub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003462-F7A4-45B7-873B-C77747F27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03860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Code collaboration, reviews, and feature integration.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B1907C-CA6C-4164-9482-C4E03A535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448300"/>
            <a:ext cx="8877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243B"/>
          </a:solidFill>
          <a:ln xmlns:a="http://schemas.openxmlformats.org/drawingml/2006/main" w="0">
            <a:solidFill>
              <a:srgbClr val="17243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Process loop: build small features → test internally → gather feedback → improve.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9030AC-34D4-44FB-8023-044BF3A9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FAA"/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0118F9-703F-41FE-8EDD-D258F8B7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762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Sources: ppt-prompt.txt, repo workflow context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75AED6-6353-4106-A702-48D63DC1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E8791F"/>
                </a:solidFill>
                <a:latin typeface="Avenir Next"/>
                <a:ea typeface="Avenir Next"/>
                <a:cs typeface="Avenir Next"/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194391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CE5D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752d1950a045b4"/>
          <a:stretch xmlns:a="http://schemas.openxmlformats.org/drawingml/2006/main"/>
        </p:blipFill>
        <p:spPr>
          <a:xfrm xmlns:a="http://schemas.openxmlformats.org/drawingml/2006/main">
            <a:off x="10629900" y="32385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FC47C4-346B-473F-BD68-FF3E59AC6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243B"/>
                </a:solidFill>
                <a:latin typeface="Avenir Next"/>
                <a:ea typeface="Avenir Next"/>
                <a:cs typeface="Avenir Next"/>
              </a:defRPr>
            </a:pPr>
            <a:r>
              <a:t>Trego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7AFA0B-EFD4-4450-BCD3-8CECA552A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91F"/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FDDED4-1073-4F02-B83E-44F0CB55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3375"/>
            <a:ext cx="3238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0" tIns="38100" rIns="0" bIns="3810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791F"/>
                </a:solidFill>
                <a:latin typeface="Avenir Next"/>
                <a:ea typeface="Avenir Next"/>
                <a:cs typeface="Avenir Next"/>
              </a:defRPr>
            </a:pPr>
            <a:r>
              <a:t>CHALLENGES + NEXT STEPS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B16C5C-577E-44ED-905D-E4569D63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572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43B"/>
                </a:solidFill>
                <a:latin typeface="Avenir Next"/>
                <a:ea typeface="Avenir Next"/>
                <a:cs typeface="Avenir Next"/>
              </a:defRPr>
            </a:pPr>
            <a:r>
              <a:t>Trego is moving from a working MVP toward an evidence-driven coordination platform.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2C8BF5-7035-404C-9BE6-56F329B7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4785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The biggest remaining risks are about adoption, data density, and fairness.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0288D3-94D5-44BA-9F6F-613451A6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48577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17243B"/>
          </a:solidFill>
          <a:ln xmlns:a="http://schemas.openxmlformats.org/drawingml/2006/main" w="0">
            <a:solidFill>
              <a:srgbClr val="17243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627705-740E-4A7A-A427-713D4876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2415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B"/>
          </a:solidFill>
          <a:ln xmlns:a="http://schemas.openxmlformats.org/drawingml/2006/main" w="0">
            <a:solidFill>
              <a:srgbClr val="17243B"/>
            </a:solidFill>
            <a:prstDash val="solid"/>
          </a:ln>
        </p:spPr>
        <p:txBody>
          <a:bodyPr xmlns:a="http://schemas.openxmlformats.org/drawingml/2006/main" lIns="76200" tIns="76200" rIns="76200" bIns="762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Current challenges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B3E6A3-039B-4229-A611-35F8071DB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09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91F"/>
          </a:solidFill>
          <a:ln xmlns:a="http://schemas.openxmlformats.org/drawingml/2006/main" w="0">
            <a:solidFill>
              <a:srgbClr val="E8791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F555E0-1970-49E8-B91E-CAC5F48E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3375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B"/>
          </a:solidFill>
          <a:ln xmlns:a="http://schemas.openxmlformats.org/drawingml/2006/main" w="0">
            <a:solidFill>
              <a:srgbClr val="17243B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User acquisition is still the biggest risk.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BDC8B0-2C5A-4AD3-A69C-518811483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68"/>
          </a:solidFill>
          <a:ln xmlns:a="http://schemas.openxmlformats.org/drawingml/2006/main" w="0">
            <a:solidFill>
              <a:srgbClr val="0B8F6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1C3018-E1F2-4768-8669-91B53EA3E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2905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B"/>
          </a:solidFill>
          <a:ln xmlns:a="http://schemas.openxmlformats.org/drawingml/2006/main" w="0">
            <a:solidFill>
              <a:srgbClr val="17243B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Matchmaking needs enough users and game data.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519D78-BDE2-437A-820D-00670EEF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005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2D6C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472D21-21E0-4C30-A3C6-3172FE364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2435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B"/>
          </a:solidFill>
          <a:ln xmlns:a="http://schemas.openxmlformats.org/drawingml/2006/main" w="0">
            <a:solidFill>
              <a:srgbClr val="17243B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Reputation must be fair and tested carefully.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9A6FF2-4BC3-4E4A-A8E6-76087DC1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00300"/>
            <a:ext cx="48577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7059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06E765-2AED-4C94-AD46-64D5E939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72415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76200" rIns="76200" bIns="762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43B"/>
                </a:solidFill>
                <a:latin typeface="Avenir Next"/>
                <a:ea typeface="Avenir Next"/>
                <a:cs typeface="Avenir Next"/>
              </a:defRPr>
            </a:pPr>
            <a:r>
              <a:t>Next steps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9AACEE-9554-4866-9874-2F826E84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09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91F"/>
          </a:solidFill>
          <a:ln xmlns:a="http://schemas.openxmlformats.org/drawingml/2006/main" w="0">
            <a:solidFill>
              <a:srgbClr val="E8791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3CCCB1-F42A-4CCC-A761-30EB8936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33375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43B"/>
                </a:solidFill>
                <a:latin typeface="Avenir Next"/>
                <a:ea typeface="Avenir Next"/>
                <a:cs typeface="Avenir Next"/>
              </a:defRPr>
            </a:pPr>
            <a:r>
              <a:t>Release the new coordination features to users.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299A67-232C-47B8-9774-44FA26F72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05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68"/>
          </a:solidFill>
          <a:ln xmlns:a="http://schemas.openxmlformats.org/drawingml/2006/main" w="0">
            <a:solidFill>
              <a:srgbClr val="0B8F6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EC13AD-FA3B-4BBD-B60C-32609ED69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82905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43B"/>
                </a:solidFill>
                <a:latin typeface="Avenir Next"/>
                <a:ea typeface="Avenir Next"/>
                <a:cs typeface="Avenir Next"/>
              </a:defRPr>
            </a:pPr>
            <a:r>
              <a:t>Gather feedback on attendance, calendar, and announcements.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C02430-0A0D-49D2-8665-9DA66E74D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005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2D6CD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EBB493-A0C5-4A70-BF3A-91E414319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32435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43B"/>
                </a:solidFill>
                <a:latin typeface="Avenir Next"/>
                <a:ea typeface="Avenir Next"/>
                <a:cs typeface="Avenir Next"/>
              </a:defRPr>
            </a:pPr>
            <a:r>
              <a:t>Focus rollout on early-year and daytime recreation users.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50D4E7-577A-44EB-B501-E1A542AC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895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91F"/>
          </a:solidFill>
          <a:ln xmlns:a="http://schemas.openxmlformats.org/drawingml/2006/main" w="0">
            <a:solidFill>
              <a:srgbClr val="E8791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D7FCDA-FC63-42CF-823C-B2B09E940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81965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43B"/>
                </a:solidFill>
                <a:latin typeface="Avenir Next"/>
                <a:ea typeface="Avenir Next"/>
                <a:cs typeface="Avenir Next"/>
              </a:defRPr>
            </a:pPr>
            <a:r>
              <a:t>Start with simple filters before advanced recommendations.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8CBC55-9D1E-4CC5-9352-B05DFA7B5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619750"/>
            <a:ext cx="88773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8791F"/>
          </a:solidFill>
          <a:ln xmlns:a="http://schemas.openxmlformats.org/drawingml/2006/main" w="0">
            <a:solidFill>
              <a:srgbClr val="E8791F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Conclusion: keep the MVP useful, then let real usage shape the next layer.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EACAB9-63D2-4E81-9507-91D949250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FAA"/>
          </a:solidFill>
          <a:ln xmlns:a="http://schemas.openxmlformats.org/drawingml/2006/main" w="0">
            <a:solidFill>
              <a:srgbClr val="D8CDB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DAC8B6-E8E5-441B-AD3E-9EE38016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762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373"/>
                </a:solidFill>
                <a:latin typeface="Avenir Next"/>
                <a:ea typeface="Avenir Next"/>
                <a:cs typeface="Avenir Next"/>
              </a:defRPr>
            </a:pPr>
            <a:r>
              <a:t>Sources: ppt-prompt.txt, midterm script, get-recommended-games.ts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4B6F6D-8D35-4827-B51D-70C9D1DD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0">
            <a:solidFill>
              <a:srgbClr val="ECE5DA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E8791F"/>
                </a:solidFill>
                <a:latin typeface="Avenir Next"/>
                <a:ea typeface="Avenir Next"/>
                <a:cs typeface="Avenir Next"/>
              </a:defRPr>
            </a:pPr>
            <a: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678413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2026-06-15T22:06:29.4830000Z</dcterms:created>
  <dcterms:modified xsi:type="dcterms:W3CDTF">2026-06-15T22:06:29.4830000Z</dcterms:modified>
</coreProperties>
</file>